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 spc="120">
                <a:solidFill>
                  <a:srgbClr val="FF5F2E"/>
                </a:solidFill>
                <a:latin typeface="Consolas"/>
              </a:rPr>
              <a:t>PROYECTO DE ANÁLISIS MASIVO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9600" b="1" i="0">
                <a:solidFill>
                  <a:srgbClr val="EDF1F2"/>
                </a:solidFill>
                <a:latin typeface="Segoe UI"/>
              </a:rPr>
              <a:t>MergeGeo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310128"/>
            <a:ext cx="2926080" cy="27432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58444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A3B1B6"/>
                </a:solidFill>
                <a:latin typeface="Segoe UI"/>
              </a:rPr>
              <a:t>Incendios forestales en Chile × clima real de ERA5.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A3B1B6"/>
                </a:solidFill>
                <a:latin typeface="Segoe UI"/>
              </a:rPr>
              <a:t>Estrés hídrico y severidad, comuna por comuna.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82803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A888D"/>
                </a:solidFill>
                <a:latin typeface="Consolas"/>
              </a:rPr>
              <a:t>Python 3   ·   Apache Spark (PySpark)   ·   XGBoost   ·   xarray / NetCDF4   ·   Folium   ·   Plotly   ·   Pandas   ·   Parquet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285232"/>
            <a:ext cx="10872215" cy="10972"/>
          </a:xfrm>
          <a:prstGeom prst="rect">
            <a:avLst/>
          </a:prstGeom>
          <a:solidFill>
            <a:srgbClr val="2C3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504688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DF1F2"/>
                </a:solidFill>
                <a:latin typeface="Segoe UI"/>
              </a:rPr>
              <a:t>60.530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A888D"/>
                </a:solidFill>
                <a:latin typeface="Consolas"/>
              </a:rPr>
              <a:t>EVENTOS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5" y="5504688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DF1F2"/>
                </a:solidFill>
                <a:latin typeface="Segoe UI"/>
              </a:rPr>
              <a:t>2.617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5" y="5943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A888D"/>
                </a:solidFill>
                <a:latin typeface="Consolas"/>
              </a:rPr>
              <a:t>COMUNA-AÑO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5504688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DF1F2"/>
                </a:solidFill>
                <a:latin typeface="Segoe UI"/>
              </a:rPr>
              <a:t>~3.600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5943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A888D"/>
                </a:solidFill>
                <a:latin typeface="Consolas"/>
              </a:rPr>
              <a:t>CELDAS ERA5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5504688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DF1F2"/>
                </a:solidFill>
                <a:latin typeface="Segoe U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5943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A888D"/>
                </a:solidFill>
                <a:latin typeface="Consolas"/>
              </a:rPr>
              <a:t>NOTEBOOKS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5504688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DF1F2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5943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A888D"/>
                </a:solidFill>
                <a:latin typeface="Consolas"/>
              </a:rPr>
              <a:t>INTEGRANTES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10872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A888D"/>
                </a:solidFill>
                <a:latin typeface="Consolas"/>
              </a:rPr>
              <a:t>Samsung Innovation Campus — Big Data 2026   ·   github.com/Mtys24/MergeGeo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EL PROBLEMA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Chile se quema todos los veranos.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La pregunta es cuánto explica el clima.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031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47555A"/>
                </a:solidFill>
                <a:latin typeface="Segoe UI"/>
              </a:rPr>
              <a:t>Existen registros de incendios muy detallados y existen registros climáticos muy detallados, pero viven separados. Uno es una lista de eventos puntuales con coordenadas; el otro, una grilla continua de temperatura y precipitación. MergeGeo es literalmente ese merge.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296412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191256"/>
            <a:ext cx="6565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50" b="1">
                <a:solidFill>
                  <a:srgbClr val="14191B"/>
                </a:solidFill>
                <a:latin typeface="Segoe UI"/>
              </a:rPr>
              <a:t>El dato de incendio </a:t>
            </a:r>
            <a:r>
              <a:rPr sz="1150" b="0">
                <a:solidFill>
                  <a:srgbClr val="47555A"/>
                </a:solidFill>
                <a:latin typeface="Segoe UI"/>
              </a:rPr>
              <a:t>dice dónde, cuándo, por qué y cuánta superficie se quemó — pero no sabe cómo venía el clima de esa zona.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018788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913632"/>
            <a:ext cx="6565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50" b="1">
                <a:solidFill>
                  <a:srgbClr val="14191B"/>
                </a:solidFill>
                <a:latin typeface="Segoe UI"/>
              </a:rPr>
              <a:t>El dato climático </a:t>
            </a:r>
            <a:r>
              <a:rPr sz="1150" b="0">
                <a:solidFill>
                  <a:srgbClr val="47555A"/>
                </a:solidFill>
                <a:latin typeface="Segoe UI"/>
              </a:rPr>
              <a:t>dice cuán seco y cálido estuvo cada celda de 0.25° cada día — pero no sabe nada de fuego.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567428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462272"/>
            <a:ext cx="6565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50" b="1">
                <a:solidFill>
                  <a:srgbClr val="14191B"/>
                </a:solidFill>
                <a:latin typeface="Segoe UI"/>
              </a:rPr>
              <a:t>El cruce </a:t>
            </a:r>
            <a:r>
              <a:rPr sz="1150" b="0">
                <a:solidFill>
                  <a:srgbClr val="47555A"/>
                </a:solidFill>
                <a:latin typeface="Segoe UI"/>
              </a:rPr>
              <a:t>une ambos mundos por espacio y por tiempo, y recién ahí se le puede preguntar algo a los datos.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874519"/>
            <a:ext cx="3712463" cy="3977639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103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ESCALA DEL CRUCE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487168"/>
            <a:ext cx="32004" cy="969264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459736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500" b="1" i="0">
                <a:solidFill>
                  <a:srgbClr val="C93A11"/>
                </a:solidFill>
                <a:latin typeface="Segoe UI"/>
              </a:rPr>
              <a:t>60.530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94436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EVENTOS DE INCENDIO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584448"/>
            <a:ext cx="32004" cy="969264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3557016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500" b="1" i="0">
                <a:solidFill>
                  <a:srgbClr val="14191B"/>
                </a:solidFill>
                <a:latin typeface="Segoe UI"/>
              </a:rPr>
              <a:t>~3.600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04164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CELDAS ERA5 SOBRE CHILE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4681728"/>
            <a:ext cx="32004" cy="969264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4654296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500" b="1" i="0">
                <a:solidFill>
                  <a:srgbClr val="14191B"/>
                </a:solidFill>
                <a:latin typeface="Segoe UI"/>
              </a:rPr>
              <a:t>26 años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513892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DE CLIMA DIARIO (2000-2025)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108722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C81"/>
                </a:solidFill>
                <a:latin typeface="Consolas"/>
              </a:rPr>
              <a:t>Un join espacio-temporal de este tamaño es exactamente el caso de uso de Spark.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FF5F2E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A888D"/>
                </a:solidFill>
                <a:latin typeface="Consolas"/>
              </a:rPr>
              <a:t>HIPÓTESIS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A888D"/>
                </a:solidFill>
                <a:latin typeface="Consolas"/>
              </a:rPr>
              <a:t>LA PREGUNTA DEL PROYECTO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2C3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051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120">
                <a:solidFill>
                  <a:srgbClr val="FF5F2E"/>
                </a:solidFill>
                <a:latin typeface="Consolas"/>
              </a:rPr>
              <a:t>HIPÓTESIS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44752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EDF1F2"/>
                </a:solidFill>
                <a:latin typeface="Segoe UI"/>
              </a:rPr>
              <a:t>El estrés hídrico a nivel comunal —temperatura anómalamente alta más precipitación anómalamente baja— se asocia con incendios de mayor severidad.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10872215" cy="10972"/>
          </a:xfrm>
          <a:prstGeom prst="rect">
            <a:avLst/>
          </a:prstGeom>
          <a:solidFill>
            <a:srgbClr val="2C3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5478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7A888D"/>
                </a:solidFill>
                <a:latin typeface="Consolas"/>
              </a:rPr>
              <a:t>LO QUE DEBERÍA OBSERVARSE SI ES CIERTA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009644"/>
            <a:ext cx="68580" cy="68580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904487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>
                <a:solidFill>
                  <a:srgbClr val="A3B1B6"/>
                </a:solidFill>
                <a:latin typeface="Segoe UI"/>
              </a:rPr>
              <a:t>Las comunas que viven meses más secos y cálidos que su propia normal histórica deberían presentar mayor superficie quemada.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713732"/>
            <a:ext cx="68580" cy="68580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608576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>
                <a:solidFill>
                  <a:srgbClr val="A3B1B6"/>
                </a:solidFill>
                <a:latin typeface="Segoe UI"/>
              </a:rPr>
              <a:t>Y una mayor frecuencia de eventos catastróficos.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44084"/>
            <a:ext cx="68580" cy="68580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138928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>
                <a:solidFill>
                  <a:srgbClr val="A3B1B6"/>
                </a:solidFill>
                <a:latin typeface="Segoe UI"/>
              </a:rPr>
              <a:t>La relación debería sostenerse al comparar comunas entre sí, de Arica a Magallanes.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478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7A888D"/>
                </a:solidFill>
                <a:latin typeface="Consolas"/>
              </a:rPr>
              <a:t>CÓMO SE VUELVE MEDIBLE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913632"/>
            <a:ext cx="5120640" cy="868680"/>
          </a:xfrm>
          <a:prstGeom prst="rect">
            <a:avLst/>
          </a:prstGeom>
          <a:solidFill>
            <a:srgbClr val="181F22"/>
          </a:solidFill>
          <a:ln w="12700">
            <a:solidFill>
              <a:srgbClr val="FF5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4078224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EDF1F2"/>
                </a:solidFill>
                <a:latin typeface="Consolas"/>
              </a:rPr>
              <a:t>estrés_hídrico =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EDF1F2"/>
                </a:solidFill>
                <a:latin typeface="Consolas"/>
              </a:rPr>
              <a:t>    z(anomalía t2m) − z(anomalía tp)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088636"/>
            <a:ext cx="68580" cy="68580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498348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0">
                <a:solidFill>
                  <a:srgbClr val="A3B1B6"/>
                </a:solidFill>
                <a:latin typeface="Segoe UI"/>
              </a:rPr>
              <a:t>Restar la lluvia hace que “poca precipitación” suba el índice: valor alto = mes anómalamente cálido y seco.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5682996"/>
            <a:ext cx="68580" cy="68580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557784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0">
                <a:solidFill>
                  <a:srgbClr val="A3B1B6"/>
                </a:solidFill>
                <a:latin typeface="Segoe UI"/>
              </a:rPr>
              <a:t>Al estar en z-scores, es comparable entre comunas con climas base muy distintos.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6103620"/>
            <a:ext cx="68580" cy="68580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5998464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0">
                <a:solidFill>
                  <a:srgbClr val="A3B1B6"/>
                </a:solidFill>
                <a:latin typeface="Segoe UI"/>
              </a:rPr>
              <a:t>Se testea con un clasificador entrenado SOLO con clima, sin variables de incendio, para evitar data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QUÉ SE CONSTRUYÓ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Objetivo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47555A"/>
                </a:solidFill>
                <a:latin typeface="Segoe UI"/>
              </a:rPr>
              <a:t>Construir evidencia cuantitativa sobre la relación entre estrés hídrico y severidad de incendios forestales en Chile, y dejarla presentable para una audiencia no técnica.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88920"/>
            <a:ext cx="3520440" cy="146304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788920"/>
            <a:ext cx="3520440" cy="41148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9900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OBJETIVO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264408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Integrar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56616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Unir 60.530 incendios de CONAF con el clima diario real de ERA5 y una serie nacional de 40 años.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2788920"/>
            <a:ext cx="3520440" cy="146304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788920"/>
            <a:ext cx="3520440" cy="41148"/>
          </a:xfrm>
          <a:prstGeom prst="rect">
            <a:avLst/>
          </a:prstGeom>
          <a:solidFill>
            <a:srgbClr val="2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9900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OBJETIVO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264408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Medir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56616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Definir un índice de estrés hídrico comparable y un ranking de severidad a nivel comuna-año.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2788920"/>
            <a:ext cx="3520440" cy="146304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2788920"/>
            <a:ext cx="3520440" cy="41148"/>
          </a:xfrm>
          <a:prstGeom prst="rect">
            <a:avLst/>
          </a:prstGeom>
          <a:solidFill>
            <a:srgbClr val="C9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9900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OBJETIVO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264408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Modelar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566160"/>
            <a:ext cx="30815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Predecir la categoría de riesgo de cada comuna-año usando únicamente variables climáticas.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453128"/>
            <a:ext cx="5413248" cy="146304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453128"/>
            <a:ext cx="5413248" cy="41148"/>
          </a:xfrm>
          <a:prstGeom prst="rect">
            <a:avLst/>
          </a:prstGeom>
          <a:solidFill>
            <a:srgbClr val="2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4654296"/>
            <a:ext cx="49743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OBJETIVO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928616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Visualizar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230368"/>
            <a:ext cx="497433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Tres mapas interactivos en Folium: severidad histórica, estrés hídrico y puntos de importancia.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4453128"/>
            <a:ext cx="5330952" cy="146304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4453128"/>
            <a:ext cx="5330952" cy="41148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4654296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OBJETIVO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928616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Comunicar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5230368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Un dashboard HTML autocontenido que reúne KPIs, mapas y resultados del modelo en un solo archivo.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ORIGEN DE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3 FUENTES · NINGUNA SINTÉTICA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¿De dónde salieron los datos?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47088"/>
            <a:ext cx="41148" cy="1170432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65376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4191B"/>
                </a:solidFill>
                <a:latin typeface="Segoe UI"/>
              </a:rPr>
              <a:t>CONAF — incendios individuales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19019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93A11"/>
                </a:solidFill>
                <a:latin typeface="Consolas"/>
              </a:rPr>
              <a:t>60.530 eventos  ·  2010-2019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47555A"/>
                </a:solidFill>
                <a:latin typeface="Segoe UI"/>
              </a:rPr>
              <a:t>Fecha, coordenadas, causa y superficie quemada desagregada por tipo de vegetación. Cada fila es un incendio real y georreferenciado.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C81"/>
                </a:solidFill>
                <a:latin typeface="Consolas"/>
              </a:rPr>
              <a:t>Origen: portal datospararesiliencia.cl  ·  descarga vía API, 18 temporadas combinadas (notebooks 01-02)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218688"/>
            <a:ext cx="41148" cy="1170432"/>
          </a:xfrm>
          <a:prstGeom prst="rect">
            <a:avLst/>
          </a:prstGeom>
          <a:solidFill>
            <a:srgbClr val="2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36976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4191B"/>
                </a:solidFill>
                <a:latin typeface="Segoe UI"/>
              </a:rPr>
              <a:t>ERA5 — reanálisis climático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32735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FA6"/>
                </a:solidFill>
                <a:latin typeface="Consolas"/>
              </a:rPr>
              <a:t>grilla 0.25°  ·  2000-2025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8444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47555A"/>
                </a:solidFill>
                <a:latin typeface="Segoe UI"/>
              </a:rPr>
              <a:t>Temperatura a 2 m (t2m) y precipitación total (tp) diarias sobre todo Chile, ~3.600 celdas. Archivos NetCDF leídos con xarray.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965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C81"/>
                </a:solidFill>
                <a:latin typeface="Consolas"/>
              </a:rPr>
              <a:t>Origen: Copernicus Climate Data Store  ·  pre-extraído a era5_t2m_chile_2000_2025.nc y era5_tp_chile_2000_2025.nc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90288"/>
            <a:ext cx="41148" cy="1170432"/>
          </a:xfrm>
          <a:prstGeom prst="rect">
            <a:avLst/>
          </a:prstGeom>
          <a:solidFill>
            <a:srgbClr val="C9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08575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4191B"/>
                </a:solidFill>
                <a:latin typeface="Segoe UI"/>
              </a:rPr>
              <a:t>CONAF — Archivo 6: ocurrencia nacional mensual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4645151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98A17"/>
                </a:solidFill>
                <a:latin typeface="Consolas"/>
              </a:rPr>
              <a:t>480 meses  ·  1985-2024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5604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47555A"/>
                </a:solidFill>
                <a:latin typeface="Segoe UI"/>
              </a:rPr>
              <a:t>Serie histórica compilada por expertos de CONAF con el registro mensual de ocurrencia de incendios a nivel país: 40 años de profundidad temporal.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68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C81"/>
                </a:solidFill>
                <a:latin typeface="Consolas"/>
              </a:rPr>
              <a:t>Origen: CONAF  ·  planilla “6.- Ocurrencia Nacional de Incendios Forestales según Mes, 1985-2024”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19088"/>
            <a:ext cx="108722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C81"/>
                </a:solidFill>
                <a:latin typeface="Consolas"/>
              </a:rPr>
              <a:t>Limpieza previa: 18 temporadas combinadas, fechas y coordenadas normalizadas, filtrado a Chile continental → 60.530 eventos válidos.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LOS DATOS CLIMÁTICOS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ERA5_EXTRACCION.IPYNB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Así se ve ERA5 sobre 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70824" y="896112"/>
            <a:ext cx="6111911" cy="5477255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ra5_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832" y="960120"/>
            <a:ext cx="5983895" cy="5349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32120" y="6400799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C81"/>
                </a:solidFill>
                <a:latin typeface="Consolas"/>
              </a:rPr>
              <a:t>Salida real del notebook de extracción ERA5 — precipitación y temperatura de un día cualquiera.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74519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47555A"/>
                </a:solidFill>
                <a:latin typeface="Segoe UI"/>
              </a:rPr>
              <a:t>ERA5 no entrega un valor por ciudad: entrega una grilla continua. Cada celda de 0.25° (≈27 km) tiene su propia serie diaria de temperatura y precipitación, desde 2000 hasta 2025.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46100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355848"/>
            <a:ext cx="4462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t2m</a:t>
            </a:r>
            <a:r>
              <a:rPr sz="1100" b="0">
                <a:solidFill>
                  <a:srgbClr val="47555A"/>
                </a:solidFill>
                <a:latin typeface="Segoe UI"/>
              </a:rPr>
              <a:t> — temperatura del aire a 2 metros, media diaria, en °C.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899915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794759"/>
            <a:ext cx="4462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tp</a:t>
            </a:r>
            <a:r>
              <a:rPr sz="1100" b="0">
                <a:solidFill>
                  <a:srgbClr val="47555A"/>
                </a:solidFill>
                <a:latin typeface="Segoe UI"/>
              </a:rPr>
              <a:t> — precipitación total acumulada del día, en mm.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338828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233672"/>
            <a:ext cx="4462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~3.600 celdas</a:t>
            </a:r>
            <a:r>
              <a:rPr sz="1100" b="0">
                <a:solidFill>
                  <a:srgbClr val="47555A"/>
                </a:solidFill>
                <a:latin typeface="Segoe UI"/>
              </a:rPr>
              <a:t> cubren el territorio, de Arica a Cabo de Hornos.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777740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672584"/>
            <a:ext cx="4462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Formato NetCDF</a:t>
            </a:r>
            <a:r>
              <a:rPr sz="1100" b="0">
                <a:solidFill>
                  <a:srgbClr val="47555A"/>
                </a:solidFill>
                <a:latin typeface="Segoe UI"/>
              </a:rPr>
              <a:t>, leído con xarray y NetCDF4 y convertido a series por celda.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DE VALOR ABSOLUTO A ANOMALÍA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El truco: no importa el calor, importa el exceso de calor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0912" y="1821064"/>
            <a:ext cx="6583679" cy="4084551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ra5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85072"/>
            <a:ext cx="6455663" cy="39565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74920" y="6035040"/>
            <a:ext cx="6455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C81"/>
                </a:solidFill>
                <a:latin typeface="Consolas"/>
              </a:rPr>
              <a:t>Salida real: series diarias y mensuales de ERA5 y su anomalía respecto de la climatología 2000-2025.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74519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47555A"/>
                </a:solidFill>
                <a:latin typeface="Segoe UI"/>
              </a:rPr>
              <a:t>Comparar 30 °C en Copiapó con 30 °C en Valdivia no dice nada. Por eso cada valor se convierte en anomalía: cuánto se desvía ese mes respecto de la normal histórica de ese mismo lugar, expresada en z-score.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429000"/>
            <a:ext cx="4206240" cy="960120"/>
          </a:xfrm>
          <a:prstGeom prst="rect">
            <a:avLst/>
          </a:prstGeom>
          <a:solidFill>
            <a:srgbClr val="F8F9F9"/>
          </a:solidFill>
          <a:ln w="12700">
            <a:solidFill>
              <a:srgbClr val="C93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639312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14191B"/>
                </a:solidFill>
                <a:latin typeface="Consolas"/>
              </a:rPr>
              <a:t>estrés_hídrico =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14191B"/>
                </a:solidFill>
                <a:latin typeface="Consolas"/>
              </a:rPr>
              <a:t>  z(anom t2m) − z(anom tp)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69544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590288"/>
            <a:ext cx="4005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>
                <a:solidFill>
                  <a:srgbClr val="47555A"/>
                </a:solidFill>
                <a:latin typeface="Segoe UI"/>
              </a:rPr>
              <a:t>Anomalía positiva de temperatura = mes más cálido que su propia normal.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134355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029199"/>
            <a:ext cx="4005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>
                <a:solidFill>
                  <a:srgbClr val="47555A"/>
                </a:solidFill>
                <a:latin typeface="Segoe UI"/>
              </a:rPr>
              <a:t>Anomalía negativa de precipitación = mes más seco que su propia normal.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573268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468112"/>
            <a:ext cx="4005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>
                <a:solidFill>
                  <a:srgbClr val="47555A"/>
                </a:solidFill>
                <a:latin typeface="Segoe UI"/>
              </a:rPr>
              <a:t>El índice combina ambas en un único número comparable entre comunas.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9 NOTEBOOKS SECUENCIALES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El pipeline, de la API al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2048256" cy="169164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331720"/>
            <a:ext cx="2048256" cy="45720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551176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PREPARACIÓN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9864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47555A"/>
                </a:solidFill>
                <a:latin typeface="Consolas"/>
              </a:rPr>
              <a:t>01  descarga API CONAF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7296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47555A"/>
                </a:solidFill>
                <a:latin typeface="Consolas"/>
              </a:rPr>
              <a:t>02  limpieza y filtrado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0340" y="301752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E7C81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9504" y="2331720"/>
            <a:ext cx="2048256" cy="169164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9504" y="2331720"/>
            <a:ext cx="2048256" cy="4572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4096" y="2551176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CRUCE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289864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91B"/>
                </a:solidFill>
                <a:latin typeface="Consolas"/>
              </a:rPr>
              <a:t>03  incendio × ERA5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17296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91B"/>
                </a:solidFill>
                <a:latin typeface="Consolas"/>
              </a:rPr>
              <a:t>     clima + anomalía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1476" y="301752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E7C81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2331720"/>
            <a:ext cx="2048256" cy="169164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0" y="2331720"/>
            <a:ext cx="2048256" cy="45720"/>
          </a:xfrm>
          <a:prstGeom prst="rect">
            <a:avLst/>
          </a:prstGeom>
          <a:solidFill>
            <a:srgbClr val="2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85232" y="2551176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AGREGACIÓN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289864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91B"/>
                </a:solidFill>
                <a:latin typeface="Consolas"/>
              </a:rPr>
              <a:t>04  Spark comuna×año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317296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91B"/>
                </a:solidFill>
                <a:latin typeface="Consolas"/>
              </a:rPr>
              <a:t>05  serie nacional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2612" y="301752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E7C81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1776" y="2331720"/>
            <a:ext cx="2048256" cy="169164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6" y="2331720"/>
            <a:ext cx="2048256" cy="45720"/>
          </a:xfrm>
          <a:prstGeom prst="rect">
            <a:avLst/>
          </a:prstGeom>
          <a:solidFill>
            <a:srgbClr val="C9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2551176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ANÁLISIS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89864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91B"/>
                </a:solidFill>
                <a:latin typeface="Consolas"/>
              </a:rPr>
              <a:t>06  mapas coropléticos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317296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91B"/>
                </a:solidFill>
                <a:latin typeface="Consolas"/>
              </a:rPr>
              <a:t>07  mapa de puntos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447287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91B"/>
                </a:solidFill>
                <a:latin typeface="Consolas"/>
              </a:rPr>
              <a:t>08  modelo de riesgo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3748" y="301752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E7C81"/>
                </a:solidFill>
                <a:latin typeface="Segoe U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82912" y="2331720"/>
            <a:ext cx="2048256" cy="1691640"/>
          </a:xfrm>
          <a:prstGeom prst="rect">
            <a:avLst/>
          </a:prstGeom>
          <a:solidFill>
            <a:srgbClr val="C93A11"/>
          </a:solidFill>
          <a:ln w="9525">
            <a:solidFill>
              <a:srgbClr val="C93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82912" y="2331720"/>
            <a:ext cx="2048256" cy="4572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47504" y="2551176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FFE6DD"/>
                </a:solidFill>
                <a:latin typeface="Consolas"/>
              </a:rPr>
              <a:t>ENTREGA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47504" y="289864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09  dashboard HTML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7504" y="317296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     autocontenido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434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RAMAS DEL PIPELINE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905756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" y="4800600"/>
            <a:ext cx="10588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Rama comunal (04 → 06 → 08). </a:t>
            </a:r>
            <a:r>
              <a:rPr sz="1100" b="0">
                <a:solidFill>
                  <a:srgbClr val="47555A"/>
                </a:solidFill>
                <a:latin typeface="Segoe UI"/>
              </a:rPr>
              <a:t>Spark agrega los eventos a comuna×año; de ahí salen los mapas coropléticos y el clasificador de riesgo.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28980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5184648"/>
            <a:ext cx="10588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Rama nacional (05). </a:t>
            </a:r>
            <a:r>
              <a:rPr sz="1100" b="0">
                <a:solidFill>
                  <a:srgbClr val="47555A"/>
                </a:solidFill>
                <a:latin typeface="Segoe UI"/>
              </a:rPr>
              <a:t>Cruza la serie mensual 1985-2024 con ERA5 nacional y entrena un regresor de tendencia con salvaguardas anti-extrapolación.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673852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" y="5568696"/>
            <a:ext cx="10588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Convergencia (09). </a:t>
            </a:r>
            <a:r>
              <a:rPr sz="1100" b="0">
                <a:solidFill>
                  <a:srgbClr val="47555A"/>
                </a:solidFill>
                <a:latin typeface="Segoe UI"/>
              </a:rPr>
              <a:t>El dashboard embebe los tres mapas por iframe y reúne KPIs, gráficos y resultados del modelo.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DETALLE DE 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ORDEN: 03 →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1" i="0">
                <a:solidFill>
                  <a:srgbClr val="14191B"/>
                </a:solidFill>
                <a:latin typeface="Segoe UI"/>
              </a:rPr>
              <a:t>Qué hace cada notebook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83080"/>
          <a:ext cx="10872216" cy="3602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2880360"/>
                <a:gridCol w="5074920"/>
                <a:gridCol w="250545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6E7C81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 marL="91440" marR="54864" marT="27432" marB="27432" anchor="ctr">
                    <a:solidFill>
                      <a:srgbClr val="E4E8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6E7C81"/>
                          </a:solidFill>
                          <a:latin typeface="Consolas"/>
                        </a:rPr>
                        <a:t>NOTEBOOK</a:t>
                      </a:r>
                    </a:p>
                  </a:txBody>
                  <a:tcPr marL="91440" marR="54864" marT="27432" marB="27432" anchor="ctr">
                    <a:solidFill>
                      <a:srgbClr val="E4E8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6E7C81"/>
                          </a:solidFill>
                          <a:latin typeface="Consolas"/>
                        </a:rPr>
                        <a:t>QUÉ HACE</a:t>
                      </a:r>
                    </a:p>
                  </a:txBody>
                  <a:tcPr marL="91440" marR="54864" marT="27432" marB="27432" anchor="ctr">
                    <a:solidFill>
                      <a:srgbClr val="E4E8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6E7C81"/>
                          </a:solidFill>
                          <a:latin typeface="Consolas"/>
                        </a:rPr>
                        <a:t>OUTPUT</a:t>
                      </a:r>
                    </a:p>
                  </a:txBody>
                  <a:tcPr marL="91440" marR="54864" marT="27432" marB="27432" anchor="ctr">
                    <a:solidFill>
                      <a:srgbClr val="E4E8E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93A11"/>
                          </a:solidFill>
                          <a:latin typeface="Consolas"/>
                        </a:rPr>
                        <a:t>01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descargar_incendios_conaf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Descarga 18 temporadas de CONAF vía API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incendios_conaf_raw.csv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93A11"/>
                          </a:solidFill>
                          <a:latin typeface="Consolas"/>
                        </a:rPr>
                        <a:t>02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preparar_incendios_para_era5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Limpieza y filtrado a Chile continental 2010-2019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incendios_conaf_2010_2020.xls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93A11"/>
                          </a:solidFill>
                          <a:latin typeface="Consolas"/>
                        </a:rPr>
                        <a:t>03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cruzar_incendios_era5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Cruza cada evento con el clima diario de ERA5 + anomalías mensuales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incendios_conaf_era5_2010_2020.csv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93A11"/>
                          </a:solidFill>
                          <a:latin typeface="Consolas"/>
                        </a:rPr>
                        <a:t>04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agregacion_spark_comuna_anio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Agrega a comuna×año con PySpark, calcula estrés hídrico y ranking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spark_comuna_anio/csv/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93A11"/>
                          </a:solidFill>
                          <a:latin typeface="Consolas"/>
                        </a:rPr>
                        <a:t>05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serie_nacional_mensual_mtys_era5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Cruza la serie 1985-2024 con ERA5 nacional; XGBoost anti-extrapolación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incendios_nacional_mensual_era5.csv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93A11"/>
                          </a:solidFill>
                          <a:latin typeface="Consolas"/>
                        </a:rPr>
                        <a:t>06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mapa_georreferenciado_comuna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Coropléticos de severidad histórica y estrés hídrico (Folium)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2 HTML interactivos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93A11"/>
                          </a:solidFill>
                          <a:latin typeface="Consolas"/>
                        </a:rPr>
                        <a:t>07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mapa_puntos_importancia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Heatmap de densidad + puntos catastróficos y de estrés extremo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mapa_puntos_importancia.html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93A11"/>
                          </a:solidFill>
                          <a:latin typeface="Consolas"/>
                        </a:rPr>
                        <a:t>08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modelo_riesgo_comuna_anio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Clasificación de riesgo en 4 categorías (XGBClassifier)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modelo_riesgo_comuna_anio.csv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93A11"/>
                          </a:solidFill>
                          <a:latin typeface="Consolas"/>
                        </a:rPr>
                        <a:t>09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dashboard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KPIs, mapas embebidos, gráficos y resultados del modelo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7555A"/>
                          </a:solidFill>
                          <a:latin typeface="Segoe UI"/>
                        </a:rPr>
                        <a:t>dashboard.html</a:t>
                      </a:r>
                    </a:p>
                  </a:txBody>
                  <a:tcPr marL="91440" marR="54864" marT="27432" marB="27432" anchor="ctr">
                    <a:solidFill>
                      <a:srgbClr val="F8F9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419088"/>
            <a:ext cx="108722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C81"/>
                </a:solidFill>
                <a:latin typeface="Consolas"/>
              </a:rPr>
              <a:t>Los notebooks 01-02 y la extracción ERA5 ya están corridos; el 09 va último porque embebe los tres mapas por ruta relativa.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STACK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CADA HERRAMIENTA ENTRA POR UNA RAZÓN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Tecnologías utilizadas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74519"/>
            <a:ext cx="3520440" cy="160020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74519"/>
            <a:ext cx="3520440" cy="41148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756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PROCESAMIENTO MASIVO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50008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Apache Spark · PySpark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65176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Spark 4.0.4 en modo local[*]. Agrega 60.530 eventos a 2.617 filas comuna×año y guarda en Parquet particionado por año.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1874519"/>
            <a:ext cx="3520440" cy="160020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874519"/>
            <a:ext cx="3520440" cy="41148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0756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MODELOS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350008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5176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XGBClassifier (300 árboles, lr = 0.05) para el riesgo comunal y XGBRegressor con anti-extrapolación para la tendencia nacional.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1874519"/>
            <a:ext cx="3520440" cy="160020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1874519"/>
            <a:ext cx="3520440" cy="41148"/>
          </a:xfrm>
          <a:prstGeom prst="rect">
            <a:avLst/>
          </a:prstGeom>
          <a:solidFill>
            <a:srgbClr val="2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20756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DATOS CLIMÁTICOS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350008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xarray · NetCDF4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65176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Lectura de los .nc de ERA5 y extracción de series por celda: el puente entre el formato de la ciencia del clima y Pandas.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657600"/>
            <a:ext cx="3520440" cy="160020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657600"/>
            <a:ext cx="3520440" cy="41148"/>
          </a:xfrm>
          <a:prstGeom prst="rect">
            <a:avLst/>
          </a:prstGeom>
          <a:solidFill>
            <a:srgbClr val="2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385876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GEOESPACIAL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133087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Folium · branca · GeoJSON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43484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Mapas Leaflet generados desde Python: coropléticos sobre el GeoJSON de comunas, heatmaps y capas de puntos filtrables.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1688" y="3657600"/>
            <a:ext cx="3520440" cy="160020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61688" y="3657600"/>
            <a:ext cx="3520440" cy="41148"/>
          </a:xfrm>
          <a:prstGeom prst="rect">
            <a:avLst/>
          </a:prstGeom>
          <a:solidFill>
            <a:srgbClr val="C9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385876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CIENCIA DE DATOS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1144" y="4133087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Pandas · NumPy · Scikit-learn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4617720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Limpieza, z-scores, ingeniería de variables, partición temporal de entrenamiento y métricas de evaluación.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65008" y="3657600"/>
            <a:ext cx="3520440" cy="160020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5008" y="3657600"/>
            <a:ext cx="3520440" cy="41148"/>
          </a:xfrm>
          <a:prstGeom prst="rect">
            <a:avLst/>
          </a:prstGeom>
          <a:solidFill>
            <a:srgbClr val="C9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385876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VISUALIZACIÓN Y ENTREGA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4133087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Plotly · Matplotlib · Parquet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4617720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Gráficos interactivos del dashboard, figuras estáticas del informe y Parquet/CSV como intercambio. Todo corre en Google Colab.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AGREGACIÓN CON SPARK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NOTEBOOK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De 60.530 eventos a 2.617 comuna-año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47555A"/>
                </a:solidFill>
                <a:latin typeface="Segoe UI"/>
              </a:rPr>
              <a:t>Spark clasifica cada evento por severidad, agrega por comuna y año, y calcula el índice de estrés hídrico y el ranking de severidad de cada año.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SEVERIDAD DE CADA EVENTO (60.530 INCENDIOS)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5409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91B"/>
                </a:solidFill>
                <a:latin typeface="Segoe UI"/>
              </a:rPr>
              <a:t>menor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21408" y="3095244"/>
            <a:ext cx="3291840" cy="155448"/>
          </a:xfrm>
          <a:prstGeom prst="rect">
            <a:avLst/>
          </a:prstGeom>
          <a:solidFill>
            <a:srgbClr val="9EB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4688" y="305409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Consolas"/>
              </a:rPr>
              <a:t>39.966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7472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91B"/>
                </a:solidFill>
                <a:latin typeface="Segoe UI"/>
              </a:rPr>
              <a:t>moderado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1408" y="3515868"/>
            <a:ext cx="1316455" cy="155448"/>
          </a:xfrm>
          <a:prstGeom prst="rect">
            <a:avLst/>
          </a:prstGeom>
          <a:solidFill>
            <a:srgbClr val="C9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4688" y="34747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Consolas"/>
              </a:rPr>
              <a:t>15.983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91B"/>
                </a:solidFill>
                <a:latin typeface="Segoe UI"/>
              </a:rPr>
              <a:t>grave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1408" y="3936491"/>
            <a:ext cx="328969" cy="155448"/>
          </a:xfrm>
          <a:prstGeom prst="rect">
            <a:avLst/>
          </a:prstGeom>
          <a:solidFill>
            <a:srgbClr val="E0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04688" y="389534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Consolas"/>
              </a:rPr>
              <a:t>3.994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1596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91B"/>
                </a:solidFill>
                <a:latin typeface="Segoe UI"/>
              </a:rPr>
              <a:t>catastrófico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21408" y="4357116"/>
            <a:ext cx="48348" cy="155448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4688" y="4315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Consolas"/>
              </a:rPr>
              <a:t>587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2606040"/>
            <a:ext cx="4626864" cy="315468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28346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COMUNA-AÑO MÁS SEVERA DEL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31546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93A11"/>
                </a:solidFill>
                <a:latin typeface="Segoe UI"/>
              </a:rPr>
              <a:t>Cauquenes, 2017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3675887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47555A"/>
                </a:solidFill>
                <a:latin typeface="Segoe UI"/>
              </a:rPr>
              <a:t>180.372 ha quemadas en 35 incendios, con un índice de estrés hídrico de +1,28: el verano de 2017 fue anómalamente cálido y seco en el Maule.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50608" y="4590288"/>
            <a:ext cx="4114800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7548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Otras comuna-año del top: Pumanque (46.490 ha), Vichuquén (44.400 ha) y Florida (30.514 ha) — todas de 2017, el peor año de la serie.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108722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C81"/>
                </a:solidFill>
                <a:latin typeface="Consolas"/>
              </a:rPr>
              <a:t>Umbrales de severidad por evento y ranking anual calculados dentro del job de Spark · salida en Parquet + CSV.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PRIMER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NOTEBOOK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El clima del día vs. el tamaño del incendio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3112" y="1856232"/>
            <a:ext cx="8351871" cy="2825496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ruc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120" y="1920240"/>
            <a:ext cx="8223855" cy="2697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7091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C81"/>
                </a:solidFill>
                <a:latin typeface="Consolas"/>
              </a:rPr>
              <a:t>Salida real del notebook 03 — 60.530 eventos, superficie en escala logarítmica.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15264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5047488"/>
            <a:ext cx="10680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50" b="1">
                <a:solidFill>
                  <a:srgbClr val="14191B"/>
                </a:solidFill>
                <a:latin typeface="Segoe UI"/>
              </a:rPr>
              <a:t>Los incendios grandes se concentran entre 15 y 25 °C</a:t>
            </a:r>
            <a:r>
              <a:rPr sz="1150" b="0">
                <a:solidFill>
                  <a:srgbClr val="47555A"/>
                </a:solidFill>
                <a:latin typeface="Segoe UI"/>
              </a:rPr>
              <a:t>: con frío casi no hay eventos severos, pero el calor por sí solo no garantiza un incendio grande.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56412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458968"/>
            <a:ext cx="10680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50" b="1">
                <a:solidFill>
                  <a:srgbClr val="14191B"/>
                </a:solidFill>
                <a:latin typeface="Segoe UI"/>
              </a:rPr>
              <a:t>Con lluvia, la severidad se desploma</a:t>
            </a:r>
            <a:r>
              <a:rPr sz="1150" b="0">
                <a:solidFill>
                  <a:srgbClr val="47555A"/>
                </a:solidFill>
                <a:latin typeface="Segoe UI"/>
              </a:rPr>
              <a:t>: prácticamente toda la superficie quemada ocurre en días con precipitación cercana a cero.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97560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870448"/>
            <a:ext cx="10680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50" b="1">
                <a:solidFill>
                  <a:srgbClr val="14191B"/>
                </a:solidFill>
                <a:latin typeface="Segoe UI"/>
              </a:rPr>
              <a:t>La relación es asimétrica</a:t>
            </a:r>
            <a:r>
              <a:rPr sz="1150" b="0">
                <a:solidFill>
                  <a:srgbClr val="47555A"/>
                </a:solidFill>
                <a:latin typeface="Segoe UI"/>
              </a:rPr>
              <a:t>: el clima define el techo de lo que puede quemarse, no cuánto se quema efectivamente.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VISUALIZACIÓN GEOESPACIAL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MAPA_SEVERIDAD_HISTORICA.HTML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14191B"/>
                </a:solidFill>
                <a:latin typeface="Segoe UI"/>
              </a:rPr>
              <a:t>Dónde se quema 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555572" y="832103"/>
            <a:ext cx="2811094" cy="5660136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p_sever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580" y="896112"/>
            <a:ext cx="2683078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1874519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47555A"/>
                </a:solidFill>
                <a:latin typeface="Segoe UI"/>
              </a:rPr>
              <a:t>Mapa coroplético por comuna: el color es el percentil de superficie quemada acumulada entre 2010 y 2019. El control de capas permite aislar un año concreto.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3240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127248"/>
            <a:ext cx="5193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La franja roja intensa va de Valparaíso a La Araucanía</a:t>
            </a:r>
            <a:r>
              <a:rPr sz="1100" b="0">
                <a:solidFill>
                  <a:srgbClr val="47555A"/>
                </a:solidFill>
                <a:latin typeface="Segoe UI"/>
              </a:rPr>
              <a:t>: es la zona de plantaciones forestales y de interfaz urbano-rural.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881628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776472"/>
            <a:ext cx="5193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El norte casi no aparece</a:t>
            </a:r>
            <a:r>
              <a:rPr sz="1100" b="0">
                <a:solidFill>
                  <a:srgbClr val="47555A"/>
                </a:solidFill>
                <a:latin typeface="Segoe UI"/>
              </a:rPr>
              <a:t>: sin vegetación no hay combustible, por seco que esté.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357116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251959"/>
            <a:ext cx="5193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En el extremo austral reaparecen manchas</a:t>
            </a:r>
            <a:r>
              <a:rPr sz="1100" b="0">
                <a:solidFill>
                  <a:srgbClr val="47555A"/>
                </a:solidFill>
                <a:latin typeface="Segoe UI"/>
              </a:rPr>
              <a:t>: pocos eventos, pero enormes, como Torres del Paine en 2011.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006340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901183"/>
            <a:ext cx="5193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Interactivo</a:t>
            </a:r>
            <a:r>
              <a:rPr sz="1100" b="0">
                <a:solidFill>
                  <a:srgbClr val="47555A"/>
                </a:solidFill>
                <a:latin typeface="Segoe UI"/>
              </a:rPr>
              <a:t>: tooltip por comuna con el valor real y capas por año.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108722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C81"/>
                </a:solidFill>
                <a:latin typeface="Consolas"/>
              </a:rPr>
              <a:t>Generado con Folium (notebook 06) · basemap OpenStreetMap para esta captura.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VISUALIZACIÓN GEOESPACIAL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MAPA_ESTRES_HIDRICO.HTML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14191B"/>
                </a:solidFill>
                <a:latin typeface="Segoe UI"/>
              </a:rPr>
              <a:t>Dónde el clima se salió de su normal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555572" y="832103"/>
            <a:ext cx="2811094" cy="5660136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p_es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580" y="896112"/>
            <a:ext cx="2683078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1874519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47555A"/>
                </a:solidFill>
                <a:latin typeface="Segoe UI"/>
              </a:rPr>
              <a:t>El mismo mapa de comunas, pero coloreado por el índice de estrés hídrico: cuán cálido y seco estuvo cada comuna respecto de su propia climatología histórica.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3240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127248"/>
            <a:ext cx="5193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El índice está en z-scores</a:t>
            </a:r>
            <a:r>
              <a:rPr sz="1100" b="0">
                <a:solidFill>
                  <a:srgbClr val="47555A"/>
                </a:solidFill>
                <a:latin typeface="Segoe UI"/>
              </a:rPr>
              <a:t>, así que una comuna del desierto y una de la Patagonia se pueden comparar directamente.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936492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831336"/>
            <a:ext cx="5193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Los valores extremos aparecen en el sur húmedo</a:t>
            </a:r>
            <a:r>
              <a:rPr sz="1100" b="0">
                <a:solidFill>
                  <a:srgbClr val="47555A"/>
                </a:solidFill>
                <a:latin typeface="Segoe UI"/>
              </a:rPr>
              <a:t>: Chaitén 2016 alcanza +20, porque una sequía allí es una desviación enorme de lo normal.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640580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535424"/>
            <a:ext cx="5193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Eso mismo revela un límite</a:t>
            </a:r>
            <a:r>
              <a:rPr sz="1100" b="0">
                <a:solidFill>
                  <a:srgbClr val="47555A"/>
                </a:solidFill>
                <a:latin typeface="Segoe UI"/>
              </a:rPr>
              <a:t>: estrés hídrico alto no implica incendio grande si no hay ignición ni combustible.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19088"/>
            <a:ext cx="108722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C81"/>
                </a:solidFill>
                <a:latin typeface="Consolas"/>
              </a:rPr>
              <a:t>Generado con Folium (notebook 06) · índice calculado en el job de Spark del notebook 04.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VISUALIZACIÓN GEOESPACIAL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MAPA_PUNTOS_IMPORTANCIA.HTML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14191B"/>
                </a:solidFill>
                <a:latin typeface="Segoe UI"/>
              </a:rPr>
              <a:t>Los eventos que importan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05650" y="832103"/>
            <a:ext cx="3945178" cy="5660136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p_pu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658" y="896112"/>
            <a:ext cx="3817162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1874519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47555A"/>
                </a:solidFill>
                <a:latin typeface="Segoe UI"/>
              </a:rPr>
              <a:t>Ya no comunas: eventos individuales. Una capa de densidad muestra dónde se concentran los incendios, y encima se marcan los casos límite.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3240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127248"/>
            <a:ext cx="4828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Catastrófico</a:t>
            </a:r>
            <a:r>
              <a:rPr sz="1100" b="0">
                <a:solidFill>
                  <a:srgbClr val="47555A"/>
                </a:solidFill>
                <a:latin typeface="Segoe UI"/>
              </a:rPr>
              <a:t> — el 1 % superior de superficie quemada de todo el período.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68960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584448"/>
            <a:ext cx="4828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Estrés hídrico extremo</a:t>
            </a:r>
            <a:r>
              <a:rPr sz="1100" b="0">
                <a:solidFill>
                  <a:srgbClr val="47555A"/>
                </a:solidFill>
                <a:latin typeface="Segoe UI"/>
              </a:rPr>
              <a:t> — el evento ocurrió en un mes anómalamente seco y cálido.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4680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041648"/>
            <a:ext cx="4828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Ambos a la vez</a:t>
            </a:r>
            <a:r>
              <a:rPr sz="1100" b="0">
                <a:solidFill>
                  <a:srgbClr val="47555A"/>
                </a:solidFill>
                <a:latin typeface="Segoe UI"/>
              </a:rPr>
              <a:t> — los casos que sostienen la hipótesis del proyecto.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60400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498848"/>
            <a:ext cx="4828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Filtros combinables</a:t>
            </a:r>
            <a:r>
              <a:rPr sz="1100" b="0">
                <a:solidFill>
                  <a:srgbClr val="47555A"/>
                </a:solidFill>
                <a:latin typeface="Segoe UI"/>
              </a:rPr>
              <a:t> por año y por causa, en el control de capas del mapa.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108722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C81"/>
                </a:solidFill>
                <a:latin typeface="Consolas"/>
              </a:rPr>
              <a:t>Generado con Folium + plugin HeatMap (notebook 07).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RAMA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NOTEBOOK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40 años de incendios contra el clima del país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653325"/>
            <a:ext cx="5477255" cy="40085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ie_n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17333"/>
            <a:ext cx="5349240" cy="38805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1874519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47555A"/>
                </a:solidFill>
                <a:latin typeface="Segoe UI"/>
              </a:rPr>
              <a:t>La serie de CONAF cubre 1985-2024 (480 meses); ERA5 empieza en 2000, así que el cruce con clima real usa 294 meses. Arriba, la serie completa; abajo, incendios por mes contra la temperatura media nacional.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3101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CORRELACIÓN CON N° DE INCENDIOS (2000-2024)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75887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7555A"/>
                </a:solidFill>
                <a:latin typeface="Segoe UI"/>
              </a:rPr>
              <a:t>Temperatura nacional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3675887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93A11"/>
                </a:solidFill>
                <a:latin typeface="Consolas"/>
              </a:rPr>
              <a:t>+0,894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04164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7555A"/>
                </a:solidFill>
                <a:latin typeface="Segoe UI"/>
              </a:rPr>
              <a:t>Precipitación nacional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404164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E7FA6"/>
                </a:solidFill>
                <a:latin typeface="Consolas"/>
              </a:rPr>
              <a:t>−0,179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40740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7555A"/>
                </a:solidFill>
                <a:latin typeface="Segoe UI"/>
              </a:rPr>
              <a:t>Anomalía de temperatura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440740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6E7C81"/>
                </a:solidFill>
                <a:latin typeface="Consolas"/>
              </a:rPr>
              <a:t>+0,058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7316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7555A"/>
                </a:solidFill>
                <a:latin typeface="Segoe UI"/>
              </a:rPr>
              <a:t>Anomalía de precipitación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47731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6E7C81"/>
                </a:solidFill>
                <a:latin typeface="Consolas"/>
              </a:rPr>
              <a:t>−0,082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230368"/>
            <a:ext cx="5120640" cy="82296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53949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Modelo de tendencia: MAE 123 incendios/mes · R² 0,891 — pero la variable dominante es “es_verano” (0,98 de importancia).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TENDENCIA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DASHBOARD.HTML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Los años con más incendios, ¿son los años más cálidos?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0482" y="1764791"/>
            <a:ext cx="9177131" cy="3374136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90" y="1828799"/>
            <a:ext cx="9049115" cy="3246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166359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C81"/>
                </a:solidFill>
                <a:latin typeface="Consolas"/>
              </a:rPr>
              <a:t>Gráfico interactivo del dashboard — barras: incendios por año; línea: anomalía de temperatura nacional de ERA5 (reescalada para verse en el mismo eje).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65556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5550407"/>
            <a:ext cx="10680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50" b="1">
                <a:solidFill>
                  <a:srgbClr val="14191B"/>
                </a:solidFill>
                <a:latin typeface="Segoe UI"/>
              </a:rPr>
              <a:t>A grandes rasgos sí acompañan</a:t>
            </a:r>
            <a:r>
              <a:rPr sz="1150" b="0">
                <a:solidFill>
                  <a:srgbClr val="47555A"/>
                </a:solidFill>
                <a:latin typeface="Segoe UI"/>
              </a:rPr>
              <a:t>: los picos de 2003, 2015-2016 y 2019 coinciden con años de anomalía cálida.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094476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989320"/>
            <a:ext cx="10680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50" b="1">
                <a:solidFill>
                  <a:srgbClr val="14191B"/>
                </a:solidFill>
                <a:latin typeface="Segoe UI"/>
              </a:rPr>
              <a:t>Pero el acoplamiento no es limpio</a:t>
            </a:r>
            <a:r>
              <a:rPr sz="1150" b="0">
                <a:solidFill>
                  <a:srgbClr val="47555A"/>
                </a:solidFill>
                <a:latin typeface="Segoe UI"/>
              </a:rPr>
              <a:t>: hay años cálidos con pocos incendios y viceversa, y la línea es una anomalía nacional promedio que borra el detalle regional.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MODELO DE RIESGO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NOTEBOOK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Clasificar la comuna-año usando sólo clima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47555A"/>
                </a:solidFill>
                <a:latin typeface="Segoe UI"/>
              </a:rPr>
              <a:t>El clasificador recibe las variables climáticas de una comuna en un año y predice su categoría de riesgo. No ve superficie quemada ni número de eventos: si acierta, es porque la señal climática existe.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2606040" cy="86868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761488"/>
            <a:ext cx="2606040" cy="50292"/>
          </a:xfrm>
          <a:prstGeom prst="rect">
            <a:avLst/>
          </a:prstGeom>
          <a:solidFill>
            <a:srgbClr val="2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9626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E7FA6"/>
                </a:solidFill>
                <a:latin typeface="Segoe UI"/>
              </a:rPr>
              <a:t>Bajo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735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7555A"/>
                </a:solidFill>
                <a:latin typeface="Consolas"/>
              </a:rPr>
              <a:t>≤ 7,00 ha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761488"/>
            <a:ext cx="2606040" cy="86868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9856" y="2761488"/>
            <a:ext cx="2606040" cy="50292"/>
          </a:xfrm>
          <a:prstGeom prst="rect">
            <a:avLst/>
          </a:prstGeom>
          <a:solidFill>
            <a:srgbClr val="7A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9626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7A8A8F"/>
                </a:solidFill>
                <a:latin typeface="Segoe UI"/>
              </a:rP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32735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7555A"/>
                </a:solidFill>
                <a:latin typeface="Consolas"/>
              </a:rPr>
              <a:t>7,00 – 34,13 ha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2761488"/>
            <a:ext cx="2606040" cy="86868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761488"/>
            <a:ext cx="2606040" cy="50292"/>
          </a:xfrm>
          <a:prstGeom prst="rect">
            <a:avLst/>
          </a:prstGeom>
          <a:solidFill>
            <a:srgbClr val="C9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29626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98A17"/>
                </a:solidFill>
                <a:latin typeface="Segoe UI"/>
              </a:rPr>
              <a:t>Alto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2735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7555A"/>
                </a:solidFill>
                <a:latin typeface="Consolas"/>
              </a:rPr>
              <a:t>34,13 – 152,66 ha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42832" y="2761488"/>
            <a:ext cx="2606040" cy="86868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42832" y="2761488"/>
            <a:ext cx="2606040" cy="50292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29626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93A11"/>
                </a:solidFill>
                <a:latin typeface="Segoe UI"/>
              </a:rPr>
              <a:t>Catastrófico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32735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7555A"/>
                </a:solidFill>
                <a:latin typeface="Consolas"/>
              </a:rPr>
              <a:t>&gt; 152,66 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785615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E7C81"/>
                </a:solidFill>
                <a:latin typeface="Consolas"/>
              </a:rPr>
              <a:t>Umbrales de superficie quemada anual, calculados SOLO con los datos de entrenamiento para no contaminar el test.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279392"/>
            <a:ext cx="3520440" cy="169164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480559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PARTICIÓN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754879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Corte temporal, no aleatorio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5239512"/>
            <a:ext cx="308152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Train: 2.039 filas (2010-2017). Test: 578 filas (2018-2019). Se predice el futuro, no filas sueltas del mismo año.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1688" y="4279392"/>
            <a:ext cx="3520440" cy="169164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81144" y="4480559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4754879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24 variables, todas de clima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144" y="5239512"/>
            <a:ext cx="308152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t2m y tp medios, sus anomalías en z-score, el índice de estrés hídrico y la región codificada. Cero variables de incendio.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4279392"/>
            <a:ext cx="3520440" cy="169164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4480559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ALGORITMO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4754879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91B"/>
                </a:solidFill>
                <a:latin typeface="Segoe UI"/>
              </a:rPr>
              <a:t>XGBClassifier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5056631"/>
            <a:ext cx="308152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300 árboles, learning rate 0,05, 4 clases balanceadas en entrenamiento (≈510 casos por clase).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RESULTADOS DEL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TEST 2018-2019 · 578 COMUNA-AÑO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14191B"/>
                </a:solidFill>
                <a:latin typeface="Segoe UI"/>
              </a:rPr>
              <a:t>Qué tan bien predice el clima solo</a:t>
            </a:r>
          </a:p>
        </p:txBody>
      </p:sp>
      <p:sp>
        <p:nvSpPr>
          <p:cNvPr id="8" name="Rectangle 7"/>
          <p:cNvSpPr/>
          <p:nvPr/>
        </p:nvSpPr>
        <p:spPr>
          <a:xfrm>
            <a:off x="1833843" y="1719072"/>
            <a:ext cx="8530409" cy="3465576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851" y="1783080"/>
            <a:ext cx="8402393" cy="3337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212079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C81"/>
                </a:solidFill>
                <a:latin typeface="Consolas"/>
              </a:rPr>
              <a:t>Salida real del dashboard — matriz de confusión (izq.) y las 15 comunas con mayor probabilidad de riesgo catastrófico en 2019 (der.).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532120"/>
            <a:ext cx="32004" cy="969264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50468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1" i="0">
                <a:solidFill>
                  <a:srgbClr val="C93A11"/>
                </a:solidFill>
                <a:latin typeface="Segoe UI"/>
              </a:rPr>
              <a:t>36,2 %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59893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ACCURACY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6217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47555A"/>
                </a:solidFill>
                <a:latin typeface="Segoe UI"/>
              </a:rPr>
              <a:t>azar en 4 clases = 25 %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93008" y="5532120"/>
            <a:ext cx="32004" cy="969264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550468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1" i="0">
                <a:solidFill>
                  <a:srgbClr val="14191B"/>
                </a:solidFill>
                <a:latin typeface="Segoe UI"/>
              </a:rPr>
              <a:t>0,54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59893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MEJOR F1 (CLASE NORMAL)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6217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47555A"/>
                </a:solidFill>
                <a:latin typeface="Segoe UI"/>
              </a:rPr>
              <a:t>la clase que sí distingue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5532120"/>
            <a:ext cx="32004" cy="969264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550468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1" i="0">
                <a:solidFill>
                  <a:srgbClr val="14191B"/>
                </a:solidFill>
                <a:latin typeface="Segoe UI"/>
              </a:rPr>
              <a:t>0,24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59893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PEOR F1 (CLASE BAJO)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6217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47555A"/>
                </a:solidFill>
                <a:latin typeface="Segoe UI"/>
              </a:rPr>
              <a:t>se confunde con todas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62288" y="5532120"/>
            <a:ext cx="32004" cy="969264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550468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1" i="0">
                <a:solidFill>
                  <a:srgbClr val="14191B"/>
                </a:solidFill>
                <a:latin typeface="Segoe UI"/>
              </a:rPr>
              <a:t>0,75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5989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PROB. MÁXIMA (LAMPA 2019)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6217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47555A"/>
                </a:solidFill>
                <a:latin typeface="Segoe UI"/>
              </a:rPr>
              <a:t>y era catastrófico real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QUÉ MIRA EL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NOTEBOOK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La región pesa tanto como el clima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25312" y="1920818"/>
            <a:ext cx="5669279" cy="3565002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por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84826"/>
            <a:ext cx="5541264" cy="34369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89320" y="5806440"/>
            <a:ext cx="55412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C81"/>
                </a:solidFill>
                <a:latin typeface="Consolas"/>
              </a:rPr>
              <a:t>Salida real del notebook 08 — importancia de variables del XGBClassifier.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74519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47555A"/>
                </a:solidFill>
                <a:latin typeface="Segoe UI"/>
              </a:rPr>
              <a:t>Al ordenar las variables por importancia aparece el hallazgo más honesto del proyecto: el modelo se apoya tanto en dónde está la comuna como en cómo estuvo su clima.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32384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218688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tp_medio (0,061) es la variable climática más fuerte</a:t>
            </a:r>
            <a:r>
              <a:rPr sz="1100" b="0">
                <a:solidFill>
                  <a:srgbClr val="47555A"/>
                </a:solidFill>
                <a:latin typeface="Segoe UI"/>
              </a:rPr>
              <a:t>: la precipitación manda más que la temperatura.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064507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959351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estres_hidrico_score (0,051) entra en el top 10</a:t>
            </a:r>
            <a:r>
              <a:rPr sz="1100" b="0">
                <a:solidFill>
                  <a:srgbClr val="47555A"/>
                </a:solidFill>
                <a:latin typeface="Segoe UI"/>
              </a:rPr>
              <a:t>, por encima de la mayoría de las regiones: el índice construido sí aporta.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805172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700016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Pero las regiones ocupan 8 de los 12 primeros puestos</a:t>
            </a:r>
            <a:r>
              <a:rPr sz="1100" b="0">
                <a:solidFill>
                  <a:srgbClr val="47555A"/>
                </a:solidFill>
                <a:latin typeface="Segoe UI"/>
              </a:rPr>
              <a:t>: vegetación, densidad de población y causa humana están escondidas ahí.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ENTREGABLE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NOTEBOOK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14191B"/>
                </a:solidFill>
                <a:latin typeface="Segoe UI"/>
              </a:rPr>
              <a:t>Un solo archivo que se explica solo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7535" y="1719072"/>
            <a:ext cx="8983024" cy="2002536"/>
          </a:xfrm>
          <a:prstGeom prst="rect">
            <a:avLst/>
          </a:prstGeom>
          <a:solidFill>
            <a:srgbClr val="FFFFFF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543" y="1783080"/>
            <a:ext cx="8855008" cy="18745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3749039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C81"/>
                </a:solidFill>
                <a:latin typeface="Consolas"/>
              </a:rPr>
              <a:t>Cabecera real de dashboard.html — se abre en cualquier navegador, sin instalar nada.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512564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407407"/>
            <a:ext cx="5559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KPIs</a:t>
            </a:r>
            <a:r>
              <a:rPr sz="1100" b="0">
                <a:solidFill>
                  <a:srgbClr val="47555A"/>
                </a:solidFill>
                <a:latin typeface="Segoe UI"/>
              </a:rPr>
              <a:t> de cobertura: 60.530 eventos, 1.157.990 ha quemadas, 312 comunas con al menos un evento, 16 regiones.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143499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038343"/>
            <a:ext cx="5559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Tres mapas embebidos</a:t>
            </a:r>
            <a:r>
              <a:rPr sz="1100" b="0">
                <a:solidFill>
                  <a:srgbClr val="47555A"/>
                </a:solidFill>
                <a:latin typeface="Segoe UI"/>
              </a:rPr>
              <a:t> por iframe, conmutables con pestañas.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600699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495543"/>
            <a:ext cx="5559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Gráficos Plotly</a:t>
            </a:r>
            <a:r>
              <a:rPr sz="1100" b="0">
                <a:solidFill>
                  <a:srgbClr val="47555A"/>
                </a:solidFill>
                <a:latin typeface="Segoe UI"/>
              </a:rPr>
              <a:t> de severidad, tendencia nacional y resultados del modelo.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057899"/>
            <a:ext cx="68580" cy="68580"/>
          </a:xfrm>
          <a:prstGeom prst="rect">
            <a:avLst/>
          </a:prstGeom>
          <a:solidFill>
            <a:srgbClr val="C93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952743"/>
            <a:ext cx="5559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1">
                <a:solidFill>
                  <a:srgbClr val="14191B"/>
                </a:solidFill>
                <a:latin typeface="Segoe UI"/>
              </a:rPr>
              <a:t>Audiencia no técnica</a:t>
            </a:r>
            <a:r>
              <a:rPr sz="1100" b="0">
                <a:solidFill>
                  <a:srgbClr val="47555A"/>
                </a:solidFill>
                <a:latin typeface="Segoe UI"/>
              </a:rPr>
              <a:t>: cada bloque lleva un texto que explica cómo leerlo.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4343400"/>
            <a:ext cx="4809744" cy="1783080"/>
          </a:xfrm>
          <a:prstGeom prst="rect">
            <a:avLst/>
          </a:prstGeom>
          <a:solidFill>
            <a:srgbClr val="F8F9F9"/>
          </a:solidFill>
          <a:ln w="9525">
            <a:solidFill>
              <a:srgbClr val="C7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45537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6E7C81"/>
                </a:solidFill>
                <a:latin typeface="Consolas"/>
              </a:rPr>
              <a:t>NOTA DE DESPLIEGUE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864608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47555A"/>
                </a:solidFill>
                <a:latin typeface="Segoe UI"/>
              </a:rPr>
              <a:t>dashboard.html embebe los tres mapas con ruta relativa, así que debe quedar en la misma carpeta que mapa_severidad_historica.html, mapa_estres_hidrico.html y mapa_puntos_importancia.html.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FF5F2E"/>
                </a:solidFill>
                <a:latin typeface="Consolas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A888D"/>
                </a:solidFill>
                <a:latin typeface="Consolas"/>
              </a:rPr>
              <a:t>VEREDICTO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7A888D"/>
                </a:solidFill>
                <a:latin typeface="Consolas"/>
              </a:rPr>
              <a:t>¿SE CONFIRMA LA HIPÓTESIS?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2C3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200" b="1" i="0">
                <a:solidFill>
                  <a:srgbClr val="EDF1F2"/>
                </a:solidFill>
                <a:latin typeface="Segoe UI"/>
              </a:rPr>
              <a:t>Sí, pero menos de lo que parecía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A3B1B6"/>
                </a:solidFill>
                <a:latin typeface="Segoe UI"/>
              </a:rPr>
              <a:t>El clima anómalo aporta señal real sobre la severidad, pero no alcanza para explicarla.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06040"/>
            <a:ext cx="3520440" cy="2148840"/>
          </a:xfrm>
          <a:prstGeom prst="rect">
            <a:avLst/>
          </a:prstGeom>
          <a:solidFill>
            <a:srgbClr val="181F22"/>
          </a:solidFill>
          <a:ln w="9525">
            <a:solidFill>
              <a:srgbClr val="2C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606040"/>
            <a:ext cx="3520440" cy="50292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34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FF5F2E"/>
                </a:solidFill>
                <a:latin typeface="Consolas"/>
              </a:rPr>
              <a:t>A FAVOR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82112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A3B1B6"/>
                </a:solidFill>
                <a:latin typeface="Segoe UI"/>
              </a:rPr>
              <a:t>El estrés hídrico entra en el top 10 de variables del modelo (0,051), por encima de la mayoría de las regiones. La severidad se desploma con lluvia y los años peores (2017) fueron cálidos y secos.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2606040"/>
            <a:ext cx="3520440" cy="2148840"/>
          </a:xfrm>
          <a:prstGeom prst="rect">
            <a:avLst/>
          </a:prstGeom>
          <a:solidFill>
            <a:srgbClr val="181F22"/>
          </a:solidFill>
          <a:ln w="9525">
            <a:solidFill>
              <a:srgbClr val="2C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2606040"/>
            <a:ext cx="3520440" cy="50292"/>
          </a:xfrm>
          <a:prstGeom prst="rect">
            <a:avLst/>
          </a:prstGeom>
          <a:solidFill>
            <a:srgbClr val="2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834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2E7FA6"/>
                </a:solidFill>
                <a:latin typeface="Consolas"/>
              </a:rPr>
              <a:t>EN CONTRA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182112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A3B1B6"/>
                </a:solidFill>
                <a:latin typeface="Segoe UI"/>
              </a:rPr>
              <a:t>Con clima solo, el clasificador llega a 36,2 % en 4 clases: mejor que el azar (25 %), pero lejos de ser predictivo. Las anomalías correlacionan casi nada con la ocurrencia nacional (+0,06 y −0,08).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2606040"/>
            <a:ext cx="3520440" cy="2148840"/>
          </a:xfrm>
          <a:prstGeom prst="rect">
            <a:avLst/>
          </a:prstGeom>
          <a:solidFill>
            <a:srgbClr val="181F22"/>
          </a:solidFill>
          <a:ln w="9525">
            <a:solidFill>
              <a:srgbClr val="2C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2606040"/>
            <a:ext cx="3520440" cy="50292"/>
          </a:xfrm>
          <a:prstGeom prst="rect">
            <a:avLst/>
          </a:prstGeom>
          <a:solidFill>
            <a:srgbClr val="C9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2834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C98A17"/>
                </a:solidFill>
                <a:latin typeface="Consolas"/>
              </a:rPr>
              <a:t>EL MATIZ CLAVE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182112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A3B1B6"/>
                </a:solidFill>
                <a:latin typeface="Segoe UI"/>
              </a:rPr>
              <a:t>La correlación fuerte a nivel país (t2m +0,894) es sobre todo estacionalidad: la variable “es_verano” se lleva 0,98 de la importancia. Es verano, más que anomalía.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047488"/>
            <a:ext cx="10872215" cy="1143000"/>
          </a:xfrm>
          <a:prstGeom prst="rect">
            <a:avLst/>
          </a:prstGeom>
          <a:solidFill>
            <a:srgbClr val="1E110C"/>
          </a:solidFill>
          <a:ln w="12700">
            <a:solidFill>
              <a:srgbClr val="FF5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303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FF5F2E"/>
                </a:solidFill>
                <a:latin typeface="Consolas"/>
              </a:rPr>
              <a:t>CONCLUSIÓN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EDF1F2"/>
                </a:solidFill>
                <a:latin typeface="Segoe UI"/>
              </a:rPr>
              <a:t>El clima define el techo de lo que puede quemarse; la región y los factores no climáticos —vegetación, causa humana, interfaz urbano-rural— definen cuánto se quema realmente. Un modelo climático puro sirve para priorizar, no para pronosticar.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20">
                <a:solidFill>
                  <a:srgbClr val="C93A11"/>
                </a:solidFill>
                <a:latin typeface="Consolas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" y="3840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EQUIPO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8583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spc="120">
                <a:solidFill>
                  <a:srgbClr val="6E7C81"/>
                </a:solidFill>
                <a:latin typeface="Consolas"/>
              </a:rPr>
              <a:t>5 INTEGRANTES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72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i="0">
                <a:solidFill>
                  <a:srgbClr val="14191B"/>
                </a:solidFill>
                <a:latin typeface="Segoe UI"/>
              </a:rPr>
              <a:t>Quién hizo qué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4191B"/>
                </a:solidFill>
                <a:latin typeface="Segoe UI"/>
              </a:rPr>
              <a:t>Jairo Arias Valenzuela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963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93A11"/>
                </a:solidFill>
                <a:latin typeface="Consolas"/>
              </a:rPr>
              <a:t>@jairoarias208-beep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2167128"/>
            <a:ext cx="7223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47555A"/>
                </a:solidFill>
                <a:latin typeface="Segoe UI"/>
              </a:rPr>
              <a:t>Extracción, limpieza y consolidación de los registros CONAF (1985-2024) y consumo estructurado de la API meteorológica Open-Meteo.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80360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632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4191B"/>
                </a:solidFill>
                <a:latin typeface="Segoe UI"/>
              </a:rPr>
              <a:t>Fabian Valdés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107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93A11"/>
                </a:solidFill>
                <a:latin typeface="Consolas"/>
              </a:rPr>
              <a:t>@favc-5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7" y="3081528"/>
            <a:ext cx="7223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47555A"/>
                </a:solidFill>
                <a:latin typeface="Segoe UI"/>
              </a:rPr>
              <a:t>Consultas y exploración de datos.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794760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77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4191B"/>
                </a:solidFill>
                <a:latin typeface="Segoe UI"/>
              </a:rPr>
              <a:t>Matías Manríquez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251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93A11"/>
                </a:solidFill>
                <a:latin typeface="Consolas"/>
              </a:rPr>
              <a:t>@Mtys24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7" y="3995928"/>
            <a:ext cx="7223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47555A"/>
                </a:solidFill>
                <a:latin typeface="Segoe UI"/>
              </a:rPr>
              <a:t>Visualización de datos: mapas geoespaciales interactivos en Folium y gráficos analíticos en Plotly.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709160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8920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4191B"/>
                </a:solidFill>
                <a:latin typeface="Segoe UI"/>
              </a:rPr>
              <a:t>Javiera González Mardones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2395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93A11"/>
                </a:solidFill>
                <a:latin typeface="Consolas"/>
              </a:rPr>
              <a:t>@Zelaznog-J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7" y="4910328"/>
            <a:ext cx="7223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47555A"/>
                </a:solidFill>
                <a:latin typeface="Segoe UI"/>
              </a:rPr>
              <a:t>Visualización de datos.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623560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8064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4191B"/>
                </a:solidFill>
                <a:latin typeface="Segoe UI"/>
              </a:rPr>
              <a:t>José Salgado Escalona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1539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93A11"/>
                </a:solidFill>
                <a:latin typeface="Consolas"/>
              </a:rPr>
              <a:t>@JoseRicardoSE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7" y="5824728"/>
            <a:ext cx="7223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47555A"/>
                </a:solidFill>
                <a:latin typeface="Segoe UI"/>
              </a:rPr>
              <a:t>Redacción del informe: consolidación de la estructura narrativa, redacción técnica y síntesis de hallazgos.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537960"/>
            <a:ext cx="10872215" cy="10972"/>
          </a:xfrm>
          <a:prstGeom prst="rect">
            <a:avLst/>
          </a:prstGeom>
          <a:solidFill>
            <a:srgbClr val="C7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120">
                <a:solidFill>
                  <a:srgbClr val="FF5F2E"/>
                </a:solidFill>
                <a:latin typeface="Consolas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400" b="1" i="0">
                <a:solidFill>
                  <a:srgbClr val="EDF1F2"/>
                </a:solidFill>
                <a:latin typeface="Segoe UI"/>
              </a:rPr>
              <a:t>De 60.530 filas sueltas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400" b="1" i="0">
                <a:solidFill>
                  <a:srgbClr val="EDF1F2"/>
                </a:solidFill>
                <a:latin typeface="Segoe UI"/>
              </a:rPr>
              <a:t>a una respuesta con mapa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323844"/>
            <a:ext cx="68580" cy="68580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3218688"/>
            <a:ext cx="6748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50" b="1">
                <a:solidFill>
                  <a:srgbClr val="EDF1F2"/>
                </a:solidFill>
                <a:latin typeface="Segoe UI"/>
              </a:rPr>
              <a:t>Se integraron tres fuentes reales</a:t>
            </a:r>
            <a:r>
              <a:rPr sz="1250" b="0">
                <a:solidFill>
                  <a:srgbClr val="A3B1B6"/>
                </a:solidFill>
                <a:latin typeface="Segoe UI"/>
              </a:rPr>
              <a:t> —CONAF evento a evento, ERA5 en grilla y la serie nacional de 40 años— en un único modelo de datos comuna×año.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009644"/>
            <a:ext cx="68580" cy="68580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904487"/>
            <a:ext cx="6748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50" b="1">
                <a:solidFill>
                  <a:srgbClr val="EDF1F2"/>
                </a:solidFill>
                <a:latin typeface="Segoe UI"/>
              </a:rPr>
              <a:t>Se construyó una medida propia</a:t>
            </a:r>
            <a:r>
              <a:rPr sz="1250" b="0">
                <a:solidFill>
                  <a:srgbClr val="A3B1B6"/>
                </a:solidFill>
                <a:latin typeface="Segoe UI"/>
              </a:rPr>
              <a:t>, el índice de estrés hídrico, comparable entre comunas de todo el país.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521707"/>
            <a:ext cx="68580" cy="68580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416551"/>
            <a:ext cx="6748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50" b="1">
                <a:solidFill>
                  <a:srgbClr val="EDF1F2"/>
                </a:solidFill>
                <a:latin typeface="Segoe UI"/>
              </a:rPr>
              <a:t>Se puso a prueba la hipótesis</a:t>
            </a:r>
            <a:r>
              <a:rPr sz="1250" b="0">
                <a:solidFill>
                  <a:srgbClr val="A3B1B6"/>
                </a:solidFill>
                <a:latin typeface="Segoe UI"/>
              </a:rPr>
              <a:t> con un clasificador alimentado sólo por clima, sin data leakage, y se reportó el resultado tal cual salió.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207507"/>
            <a:ext cx="68580" cy="68580"/>
          </a:xfrm>
          <a:prstGeom prst="rect">
            <a:avLst/>
          </a:prstGeom>
          <a:solidFill>
            <a:srgbClr val="FF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5102351"/>
            <a:ext cx="6748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50" b="1">
                <a:solidFill>
                  <a:srgbClr val="EDF1F2"/>
                </a:solidFill>
                <a:latin typeface="Segoe UI"/>
              </a:rPr>
              <a:t>Se entregó todo</a:t>
            </a:r>
            <a:r>
              <a:rPr sz="1250" b="0">
                <a:solidFill>
                  <a:srgbClr val="A3B1B6"/>
                </a:solidFill>
                <a:latin typeface="Segoe UI"/>
              </a:rPr>
              <a:t> en un dashboard HTML autocontenido, legible por una audiencia no técnica.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127248"/>
            <a:ext cx="3529584" cy="2651760"/>
          </a:xfrm>
          <a:prstGeom prst="rect">
            <a:avLst/>
          </a:prstGeom>
          <a:solidFill>
            <a:srgbClr val="181F22"/>
          </a:solidFill>
          <a:ln w="9525">
            <a:solidFill>
              <a:srgbClr val="2C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3649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7A888D"/>
                </a:solidFill>
                <a:latin typeface="Consolas"/>
              </a:rPr>
              <a:t>REPOSITORIO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576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5F2E"/>
                </a:solidFill>
                <a:latin typeface="Consolas"/>
              </a:rPr>
              <a:t>github.com/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5F2E"/>
                </a:solidFill>
                <a:latin typeface="Consolas"/>
              </a:rPr>
              <a:t>Mtys24/MergeGeo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407408"/>
            <a:ext cx="3108960" cy="10972"/>
          </a:xfrm>
          <a:prstGeom prst="rect">
            <a:avLst/>
          </a:prstGeom>
          <a:solidFill>
            <a:srgbClr val="2C3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5720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 spc="120">
                <a:solidFill>
                  <a:srgbClr val="7A888D"/>
                </a:solidFill>
                <a:latin typeface="Consolas"/>
              </a:rPr>
              <a:t>REPRODUCIR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86460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A3B1B6"/>
                </a:solidFill>
                <a:latin typeface="Segoe UI"/>
              </a:rPr>
              <a:t>Google Colab + Drive.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A3B1B6"/>
                </a:solidFill>
                <a:latin typeface="Segoe UI"/>
              </a:rPr>
              <a:t>Ejecutar 03 → 09 en orden.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10872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A888D"/>
                </a:solidFill>
                <a:latin typeface="Consolas"/>
              </a:rPr>
              <a:t>Samsung Innovation Campus — Big Data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